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1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7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7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7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66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66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66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66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66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6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66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66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66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66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66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6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76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76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76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76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76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76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76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76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76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76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76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86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86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86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86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86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86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86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86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86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86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86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86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95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95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5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95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95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95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95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95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95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95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95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95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05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305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05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05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05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05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05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05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05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05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05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05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14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14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14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14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14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14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14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914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14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14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14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14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24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524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24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24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24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24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4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24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24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24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24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24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134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34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34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34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34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34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34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4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134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34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34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34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43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43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3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43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43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43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43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43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43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43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43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743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53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53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353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353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353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353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53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53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353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353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53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353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962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962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962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62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962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962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962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62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62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62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962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62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572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72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72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572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72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72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72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72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572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72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572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572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82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182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82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182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82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182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82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182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82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82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82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182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791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791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791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791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791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791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791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791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791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791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791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791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01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401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401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01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01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01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01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401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401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401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01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01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010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010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10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010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010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010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010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010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010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010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010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010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620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620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620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620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620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620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620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620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620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620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620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620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57200" y="996950"/>
            <a:ext cx="1206500" cy="1206500"/>
          </a:xfrm>
          <a:prstGeom prst="ellipse">
            <a:avLst/>
          </a:prstGeom>
          <a:solidFill>
            <a:srgbClr val="E5392A"/>
          </a:solidFill>
          <a:ln w="12700">
            <a:solidFill>
              <a:srgbClr val="E5392A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19150" y="1416050"/>
            <a:ext cx="914400" cy="914400"/>
          </a:xfrm>
          <a:prstGeom prst="ellipse">
            <a:avLst/>
          </a:prstGeom>
          <a:solidFill>
            <a:srgbClr val="F09131"/>
          </a:solidFill>
          <a:ln w="12700">
            <a:solidFill>
              <a:srgbClr val="F09131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30300" y="444500"/>
            <a:ext cx="1060450" cy="1060450"/>
          </a:xfrm>
          <a:prstGeom prst="ellipse">
            <a:avLst/>
          </a:prstGeom>
          <a:solidFill>
            <a:srgbClr val="3F8BC4"/>
          </a:solidFill>
          <a:ln w="12700">
            <a:solidFill>
              <a:srgbClr val="3F8BC4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689100" y="863600"/>
            <a:ext cx="1206500" cy="1206500"/>
          </a:xfrm>
          <a:prstGeom prst="ellipse">
            <a:avLst/>
          </a:prstGeom>
          <a:solidFill>
            <a:srgbClr val="3D9F47"/>
          </a:solidFill>
          <a:ln w="12700">
            <a:solidFill>
              <a:srgbClr val="3D9F47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352550" y="1435100"/>
            <a:ext cx="774700" cy="774700"/>
          </a:xfrm>
          <a:prstGeom prst="ellipse">
            <a:avLst/>
          </a:prstGeom>
          <a:solidFill>
            <a:srgbClr val="F0BC2A"/>
          </a:solidFill>
          <a:ln w="12700">
            <a:solidFill>
              <a:srgbClr val="F0BC2A">
                <a:alpha val="0"/>
              </a:srgbClr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3206750" y="711200"/>
            <a:ext cx="165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gus</a:t>
            </a:r>
            <a:endParaRPr lang="en-US" sz="5550" dirty="0"/>
          </a:p>
          <a:p>
            <a:pPr algn="l" indent="0" marL="0">
              <a:buNone/>
            </a:pPr>
            <a:r>
              <a:rPr lang="en-US" sz="55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garza</a:t>
            </a:r>
            <a:endParaRPr lang="en-US" sz="5550" dirty="0"/>
          </a:p>
        </p:txBody>
      </p:sp>
      <p:sp>
        <p:nvSpPr>
          <p:cNvPr id="248" name="Text 246"/>
          <p:cNvSpPr/>
          <p:nvPr/>
        </p:nvSpPr>
        <p:spPr>
          <a:xfrm>
            <a:off x="3206750" y="1555750"/>
            <a:ext cx="215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CREATIVE-TECH DOSSIER</a:t>
            </a:r>
            <a:endParaRPr lang="en-US" sz="1500" dirty="0"/>
          </a:p>
        </p:txBody>
      </p:sp>
      <p:sp>
        <p:nvSpPr>
          <p:cNvPr id="249" name="Shape 247"/>
          <p:cNvSpPr/>
          <p:nvPr/>
        </p:nvSpPr>
        <p:spPr>
          <a:xfrm rot="-1320000">
            <a:off x="5905500" y="1333500"/>
            <a:ext cx="9525000" cy="558800"/>
          </a:xfrm>
          <a:prstGeom prst="rect">
            <a:avLst/>
          </a:prstGeom>
          <a:solidFill>
            <a:srgbClr val="E54489"/>
          </a:solidFill>
          <a:ln w="12700">
            <a:solidFill>
              <a:srgbClr val="E54489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-1320000">
            <a:off x="5905500" y="1866900"/>
            <a:ext cx="9525000" cy="495300"/>
          </a:xfrm>
          <a:prstGeom prst="rect">
            <a:avLst/>
          </a:prstGeom>
          <a:solidFill>
            <a:srgbClr val="F09131"/>
          </a:solidFill>
          <a:ln w="12700">
            <a:solidFill>
              <a:srgbClr val="F09131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rot="-1320000">
            <a:off x="5905500" y="2400300"/>
            <a:ext cx="9525000" cy="495300"/>
          </a:xfrm>
          <a:prstGeom prst="rect">
            <a:avLst/>
          </a:prstGeom>
          <a:solidFill>
            <a:srgbClr val="F0BC2A"/>
          </a:solidFill>
          <a:ln w="12700">
            <a:solidFill>
              <a:srgbClr val="F0BC2A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-1320000">
            <a:off x="5905500" y="2933700"/>
            <a:ext cx="9525000" cy="495300"/>
          </a:xfrm>
          <a:prstGeom prst="rect">
            <a:avLst/>
          </a:prstGeom>
          <a:solidFill>
            <a:srgbClr val="3D9F47"/>
          </a:solidFill>
          <a:ln w="12700">
            <a:solidFill>
              <a:srgbClr val="3D9F47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-1320000">
            <a:off x="5905500" y="3467100"/>
            <a:ext cx="9525000" cy="558800"/>
          </a:xfrm>
          <a:prstGeom prst="rect">
            <a:avLst/>
          </a:prstGeom>
          <a:solidFill>
            <a:srgbClr val="3F8BC4"/>
          </a:solidFill>
          <a:ln w="12700">
            <a:solidFill>
              <a:srgbClr val="3F8BC4">
                <a:alpha val="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457200" y="231775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95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G-26</a:t>
            </a:r>
            <a:endParaRPr lang="en-US" sz="19950" dirty="0"/>
          </a:p>
        </p:txBody>
      </p:sp>
      <p:sp>
        <p:nvSpPr>
          <p:cNvPr id="255" name="Shape 253"/>
          <p:cNvSpPr/>
          <p:nvPr/>
        </p:nvSpPr>
        <p:spPr>
          <a:xfrm>
            <a:off x="457200" y="4724400"/>
            <a:ext cx="4540250" cy="704850"/>
          </a:xfrm>
          <a:prstGeom prst="rect">
            <a:avLst/>
          </a:prstGeom>
          <a:solidFill>
            <a:srgbClr val="E54489"/>
          </a:solidFill>
          <a:ln w="12700">
            <a:solidFill>
              <a:srgbClr val="E54489">
                <a:alpha val="0"/>
              </a:srgbClr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590550" y="4800600"/>
            <a:ext cx="427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5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CREATIVE SYSTEMS</a:t>
            </a:r>
            <a:endParaRPr lang="en-US" sz="8850" dirty="0"/>
          </a:p>
        </p:txBody>
      </p:sp>
      <p:sp>
        <p:nvSpPr>
          <p:cNvPr id="257" name="Text 255"/>
          <p:cNvSpPr/>
          <p:nvPr/>
        </p:nvSpPr>
        <p:spPr>
          <a:xfrm>
            <a:off x="457200" y="5702300"/>
            <a:ext cx="558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Founder / producer / game builder turning cinematic taste into AI-native worlds, tools, films, decks, and playable IP.</a:t>
            </a:r>
            <a:endParaRPr lang="en-US" sz="2250" dirty="0"/>
          </a:p>
        </p:txBody>
      </p:sp>
      <p:sp>
        <p:nvSpPr>
          <p:cNvPr id="258" name="Shape 256"/>
          <p:cNvSpPr/>
          <p:nvPr/>
        </p:nvSpPr>
        <p:spPr>
          <a:xfrm>
            <a:off x="9639300" y="2095500"/>
            <a:ext cx="152400" cy="152400"/>
          </a:xfrm>
          <a:prstGeom prst="rect">
            <a:avLst/>
          </a:prstGeom>
          <a:solidFill>
            <a:srgbClr val="3A2516"/>
          </a:solidFill>
          <a:ln w="27940">
            <a:solidFill>
              <a:srgbClr val="3A2516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626600" y="2051050"/>
            <a:ext cx="17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×</a:t>
            </a:r>
            <a:endParaRPr lang="en-US" sz="2175" dirty="0"/>
          </a:p>
        </p:txBody>
      </p:sp>
      <p:sp>
        <p:nvSpPr>
          <p:cNvPr id="260" name="Text 258"/>
          <p:cNvSpPr/>
          <p:nvPr/>
        </p:nvSpPr>
        <p:spPr>
          <a:xfrm>
            <a:off x="9880600" y="20828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CINEMA</a:t>
            </a:r>
            <a:endParaRPr lang="en-US" sz="1725" dirty="0"/>
          </a:p>
        </p:txBody>
      </p:sp>
      <p:sp>
        <p:nvSpPr>
          <p:cNvPr id="261" name="Shape 259"/>
          <p:cNvSpPr/>
          <p:nvPr/>
        </p:nvSpPr>
        <p:spPr>
          <a:xfrm>
            <a:off x="9639300" y="2730500"/>
            <a:ext cx="152400" cy="152400"/>
          </a:xfrm>
          <a:prstGeom prst="rect">
            <a:avLst/>
          </a:prstGeom>
          <a:solidFill>
            <a:srgbClr val="3A2516"/>
          </a:solidFill>
          <a:ln w="27940">
            <a:solidFill>
              <a:srgbClr val="3A2516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9626600" y="2686050"/>
            <a:ext cx="17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×</a:t>
            </a:r>
            <a:endParaRPr lang="en-US" sz="2175" dirty="0"/>
          </a:p>
        </p:txBody>
      </p:sp>
      <p:sp>
        <p:nvSpPr>
          <p:cNvPr id="263" name="Text 261"/>
          <p:cNvSpPr/>
          <p:nvPr/>
        </p:nvSpPr>
        <p:spPr>
          <a:xfrm>
            <a:off x="9880600" y="27178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</a:t>
            </a:r>
            <a:endParaRPr lang="en-US" sz="1725" dirty="0"/>
          </a:p>
        </p:txBody>
      </p:sp>
      <p:sp>
        <p:nvSpPr>
          <p:cNvPr id="264" name="Shape 262"/>
          <p:cNvSpPr/>
          <p:nvPr/>
        </p:nvSpPr>
        <p:spPr>
          <a:xfrm>
            <a:off x="9639300" y="3365500"/>
            <a:ext cx="152400" cy="152400"/>
          </a:xfrm>
          <a:prstGeom prst="rect">
            <a:avLst/>
          </a:prstGeom>
          <a:solidFill>
            <a:srgbClr val="3A2516"/>
          </a:solidFill>
          <a:ln w="27940">
            <a:solidFill>
              <a:srgbClr val="3A2516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9626600" y="3321050"/>
            <a:ext cx="17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5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×</a:t>
            </a:r>
            <a:endParaRPr lang="en-US" sz="2175" dirty="0"/>
          </a:p>
        </p:txBody>
      </p:sp>
      <p:sp>
        <p:nvSpPr>
          <p:cNvPr id="266" name="Text 264"/>
          <p:cNvSpPr/>
          <p:nvPr/>
        </p:nvSpPr>
        <p:spPr>
          <a:xfrm>
            <a:off x="9880600" y="33528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GAMES</a:t>
            </a:r>
            <a:endParaRPr lang="en-US" sz="1725" dirty="0"/>
          </a:p>
        </p:txBody>
      </p:sp>
      <p:sp>
        <p:nvSpPr>
          <p:cNvPr id="267" name="Shape 265"/>
          <p:cNvSpPr/>
          <p:nvPr/>
        </p:nvSpPr>
        <p:spPr>
          <a:xfrm>
            <a:off x="9639300" y="4000500"/>
            <a:ext cx="152400" cy="152400"/>
          </a:xfrm>
          <a:prstGeom prst="rect">
            <a:avLst/>
          </a:prstGeom>
          <a:solidFill>
            <a:srgbClr val="F1E6CB"/>
          </a:solidFill>
          <a:ln w="27940">
            <a:solidFill>
              <a:srgbClr val="3A2516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9880600" y="39878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BORING</a:t>
            </a:r>
            <a:endParaRPr lang="en-US" sz="1725" dirty="0"/>
          </a:p>
        </p:txBody>
      </p:sp>
      <p:sp>
        <p:nvSpPr>
          <p:cNvPr id="269" name="Shape 267"/>
          <p:cNvSpPr/>
          <p:nvPr/>
        </p:nvSpPr>
        <p:spPr>
          <a:xfrm>
            <a:off x="457200" y="6464300"/>
            <a:ext cx="11277600" cy="0"/>
          </a:xfrm>
          <a:prstGeom prst="line">
            <a:avLst/>
          </a:prstGeom>
          <a:noFill/>
          <a:ln w="15240">
            <a:solidFill>
              <a:srgbClr val="3A2516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57200" y="66040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限定版</a:t>
            </a:r>
            <a:endParaRPr lang="en-US" sz="1350" dirty="0"/>
          </a:p>
        </p:txBody>
      </p:sp>
      <p:sp>
        <p:nvSpPr>
          <p:cNvPr id="271" name="Text 269"/>
          <p:cNvSpPr/>
          <p:nvPr/>
        </p:nvSpPr>
        <p:spPr>
          <a:xfrm>
            <a:off x="1079500" y="6604000"/>
            <a:ext cx="298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made in mexico · built for weird futures</a:t>
            </a:r>
            <a:endParaRPr lang="en-US" sz="1350" dirty="0"/>
          </a:p>
        </p:txBody>
      </p:sp>
      <p:sp>
        <p:nvSpPr>
          <p:cNvPr id="272" name="Text 270"/>
          <p:cNvSpPr/>
          <p:nvPr/>
        </p:nvSpPr>
        <p:spPr>
          <a:xfrm>
            <a:off x="5397500" y="65913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N.R. :</a:t>
            </a:r>
            <a:endParaRPr lang="en-US" sz="1200" dirty="0"/>
          </a:p>
        </p:txBody>
      </p:sp>
      <p:sp>
        <p:nvSpPr>
          <p:cNvPr id="273" name="Shape 271"/>
          <p:cNvSpPr/>
          <p:nvPr/>
        </p:nvSpPr>
        <p:spPr>
          <a:xfrm>
            <a:off x="5969000" y="6610350"/>
            <a:ext cx="114300" cy="114300"/>
          </a:xfrm>
          <a:prstGeom prst="rect">
            <a:avLst/>
          </a:prstGeom>
          <a:solidFill>
            <a:srgbClr val="3A2516"/>
          </a:solidFill>
          <a:ln w="15240">
            <a:solidFill>
              <a:srgbClr val="3A2516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6146800" y="6591300"/>
            <a:ext cx="28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</a:t>
            </a:r>
            <a:endParaRPr lang="en-US" sz="1200" dirty="0"/>
          </a:p>
        </p:txBody>
      </p:sp>
      <p:sp>
        <p:nvSpPr>
          <p:cNvPr id="275" name="Shape 273"/>
          <p:cNvSpPr/>
          <p:nvPr/>
        </p:nvSpPr>
        <p:spPr>
          <a:xfrm>
            <a:off x="6572250" y="6610350"/>
            <a:ext cx="114300" cy="114300"/>
          </a:xfrm>
          <a:prstGeom prst="rect">
            <a:avLst/>
          </a:prstGeom>
          <a:solidFill>
            <a:srgbClr val="F1E6CB"/>
          </a:solidFill>
          <a:ln w="15240">
            <a:solidFill>
              <a:srgbClr val="3A2516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6743700" y="6591300"/>
            <a:ext cx="31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</a:t>
            </a:r>
            <a:endParaRPr lang="en-US" sz="1200" dirty="0"/>
          </a:p>
        </p:txBody>
      </p:sp>
      <p:sp>
        <p:nvSpPr>
          <p:cNvPr id="277" name="Shape 275"/>
          <p:cNvSpPr/>
          <p:nvPr/>
        </p:nvSpPr>
        <p:spPr>
          <a:xfrm>
            <a:off x="9429750" y="6261100"/>
            <a:ext cx="596900" cy="596900"/>
          </a:xfrm>
          <a:prstGeom prst="sun">
            <a:avLst/>
          </a:prstGeom>
          <a:solidFill>
            <a:srgbClr val="3A2516"/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9429750" y="6410325"/>
            <a:ext cx="59690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26</a:t>
            </a:r>
            <a:endParaRPr lang="en-US" sz="2550" dirty="0"/>
          </a:p>
        </p:txBody>
      </p:sp>
      <p:sp>
        <p:nvSpPr>
          <p:cNvPr id="279" name="Shape 277"/>
          <p:cNvSpPr/>
          <p:nvPr/>
        </p:nvSpPr>
        <p:spPr>
          <a:xfrm>
            <a:off x="10318750" y="6350000"/>
            <a:ext cx="812800" cy="393700"/>
          </a:xfrm>
          <a:prstGeom prst="rect">
            <a:avLst/>
          </a:prstGeom>
          <a:solidFill>
            <a:srgbClr val="E5392A"/>
          </a:solidFill>
          <a:ln w="12700">
            <a:solidFill>
              <a:srgbClr val="E5392A">
                <a:alpha val="0"/>
              </a:srgbClr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10426700" y="6413500"/>
            <a:ext cx="6350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E6CB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ACTIVE FILE</a:t>
            </a:r>
            <a:endParaRPr lang="en-US" sz="900" dirty="0"/>
          </a:p>
        </p:txBody>
      </p:sp>
      <p:sp>
        <p:nvSpPr>
          <p:cNvPr id="281" name="Text 279"/>
          <p:cNvSpPr/>
          <p:nvPr/>
        </p:nvSpPr>
        <p:spPr>
          <a:xfrm>
            <a:off x="10426700" y="6534150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GUS</a:t>
            </a:r>
            <a:endParaRPr lang="en-US" sz="2100" dirty="0"/>
          </a:p>
        </p:txBody>
      </p:sp>
      <p:sp>
        <p:nvSpPr>
          <p:cNvPr id="282" name="Text 280"/>
          <p:cNvSpPr/>
          <p:nvPr/>
        </p:nvSpPr>
        <p:spPr>
          <a:xfrm>
            <a:off x="11049000" y="63627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03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7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7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7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66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66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66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66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66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6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66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66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66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66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66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6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76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76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76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76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76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76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76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76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76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76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76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86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86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86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86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86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86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86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86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86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86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86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86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95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95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5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95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95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95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95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95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95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95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95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95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05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305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05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05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05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05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05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05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05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05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05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05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14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14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14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14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14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14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14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914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14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14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14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14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24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524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24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24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24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24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4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24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24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24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24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24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134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34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34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34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34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34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34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4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134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34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34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34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43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43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3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43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43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43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43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43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43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43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43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743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53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53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353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353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353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353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53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53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353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353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53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353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962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962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962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62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962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962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962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62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62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62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962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62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572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72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72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572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72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72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72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72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572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72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572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572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82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182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82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182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82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182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82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182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82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82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82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182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791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791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791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791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791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791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791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791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791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791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791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791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01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401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401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01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01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01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01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401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401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401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01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01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010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010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10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010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010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010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010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010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010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010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010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010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620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620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620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620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620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620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620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620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620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620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620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620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00100" y="571500"/>
            <a:ext cx="1092200" cy="1092200"/>
          </a:xfrm>
          <a:prstGeom prst="ellipse">
            <a:avLst/>
          </a:prstGeom>
          <a:solidFill>
            <a:srgbClr val="E5392A"/>
          </a:solidFill>
          <a:ln w="12700">
            <a:solidFill>
              <a:srgbClr val="E5392A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905000" y="1524000"/>
            <a:ext cx="838200" cy="838200"/>
          </a:xfrm>
          <a:prstGeom prst="ellipse">
            <a:avLst/>
          </a:prstGeom>
          <a:solidFill>
            <a:srgbClr val="F09131"/>
          </a:solidFill>
          <a:ln w="12700">
            <a:solidFill>
              <a:srgbClr val="F09131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16000" y="5156200"/>
            <a:ext cx="863600" cy="863600"/>
          </a:xfrm>
          <a:prstGeom prst="ellipse">
            <a:avLst/>
          </a:prstGeom>
          <a:solidFill>
            <a:srgbClr val="F0BC2A"/>
          </a:solidFill>
          <a:ln w="12700">
            <a:solidFill>
              <a:srgbClr val="F0BC2A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302750" y="4826000"/>
            <a:ext cx="984250" cy="984250"/>
          </a:xfrm>
          <a:prstGeom prst="ellipse">
            <a:avLst/>
          </a:prstGeom>
          <a:solidFill>
            <a:srgbClr val="3D9F47"/>
          </a:solidFill>
          <a:ln w="12700">
            <a:solidFill>
              <a:srgbClr val="3D9F47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302750" y="901700"/>
            <a:ext cx="952500" cy="952500"/>
          </a:xfrm>
          <a:prstGeom prst="ellipse">
            <a:avLst/>
          </a:prstGeom>
          <a:solidFill>
            <a:srgbClr val="3F8BC4"/>
          </a:solidFill>
          <a:ln w="12700">
            <a:solidFill>
              <a:srgbClr val="3F8BC4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464800" y="2019300"/>
            <a:ext cx="762000" cy="762000"/>
          </a:xfrm>
          <a:prstGeom prst="ellipse">
            <a:avLst/>
          </a:prstGeom>
          <a:solidFill>
            <a:srgbClr val="E54489"/>
          </a:solidFill>
          <a:ln w="12700">
            <a:solidFill>
              <a:srgbClr val="E54489">
                <a:alpha val="0"/>
              </a:srgbClr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0" y="457200"/>
            <a:ext cx="1219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short note from the machine room</a:t>
            </a:r>
            <a:endParaRPr lang="en-US" sz="1350" dirty="0"/>
          </a:p>
        </p:txBody>
      </p:sp>
      <p:sp>
        <p:nvSpPr>
          <p:cNvPr id="249" name="Text 247"/>
          <p:cNvSpPr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7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Turn instinct into</a:t>
            </a:r>
            <a:endParaRPr lang="en-US" sz="11700" dirty="0"/>
          </a:p>
        </p:txBody>
      </p:sp>
      <p:sp>
        <p:nvSpPr>
          <p:cNvPr id="250" name="Text 248"/>
          <p:cNvSpPr/>
          <p:nvPr/>
        </p:nvSpPr>
        <p:spPr>
          <a:xfrm>
            <a:off x="4191000" y="3016250"/>
            <a:ext cx="222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700" b="1" dirty="0">
                <a:solidFill>
                  <a:srgbClr val="E5392A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output</a:t>
            </a:r>
            <a:endParaRPr lang="en-US" sz="11700" dirty="0"/>
          </a:p>
        </p:txBody>
      </p:sp>
      <p:sp>
        <p:nvSpPr>
          <p:cNvPr id="251" name="Text 249"/>
          <p:cNvSpPr/>
          <p:nvPr/>
        </p:nvSpPr>
        <p:spPr>
          <a:xfrm>
            <a:off x="6172200" y="3016250"/>
            <a:ext cx="444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. Make the strange</a:t>
            </a:r>
            <a:endParaRPr lang="en-US" sz="11700" dirty="0"/>
          </a:p>
        </p:txBody>
      </p:sp>
      <p:sp>
        <p:nvSpPr>
          <p:cNvPr id="252" name="Text 250"/>
          <p:cNvSpPr/>
          <p:nvPr/>
        </p:nvSpPr>
        <p:spPr>
          <a:xfrm>
            <a:off x="1333500" y="37465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7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thing usable.</a:t>
            </a:r>
            <a:endParaRPr lang="en-US" sz="11700" dirty="0"/>
          </a:p>
        </p:txBody>
      </p:sp>
      <p:sp>
        <p:nvSpPr>
          <p:cNvPr id="253" name="Shape 251"/>
          <p:cNvSpPr/>
          <p:nvPr/>
        </p:nvSpPr>
        <p:spPr>
          <a:xfrm>
            <a:off x="1066800" y="6273800"/>
            <a:ext cx="10058400" cy="0"/>
          </a:xfrm>
          <a:prstGeom prst="line">
            <a:avLst/>
          </a:prstGeom>
          <a:noFill/>
          <a:ln w="15240">
            <a:solidFill>
              <a:srgbClr val="3A2516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066800" y="6413500"/>
            <a:ext cx="273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A2516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</a:t>
            </a:r>
            <a:endParaRPr lang="en-US" sz="1125" dirty="0"/>
          </a:p>
        </p:txBody>
      </p:sp>
      <p:sp>
        <p:nvSpPr>
          <p:cNvPr id="255" name="Text 253"/>
          <p:cNvSpPr/>
          <p:nvPr/>
        </p:nvSpPr>
        <p:spPr>
          <a:xfrm>
            <a:off x="1066800" y="6616700"/>
            <a:ext cx="273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cinematic direction + technical architecture + fast iteration</a:t>
            </a:r>
            <a:endParaRPr lang="en-US" sz="1350" dirty="0"/>
          </a:p>
        </p:txBody>
      </p:sp>
      <p:sp>
        <p:nvSpPr>
          <p:cNvPr id="256" name="Text 254"/>
          <p:cNvSpPr/>
          <p:nvPr/>
        </p:nvSpPr>
        <p:spPr>
          <a:xfrm>
            <a:off x="4559300" y="6413500"/>
            <a:ext cx="273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A2516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MATERIAL</a:t>
            </a:r>
            <a:endParaRPr lang="en-US" sz="1125" dirty="0"/>
          </a:p>
        </p:txBody>
      </p:sp>
      <p:sp>
        <p:nvSpPr>
          <p:cNvPr id="257" name="Text 255"/>
          <p:cNvSpPr/>
          <p:nvPr/>
        </p:nvSpPr>
        <p:spPr>
          <a:xfrm>
            <a:off x="4559300" y="6616700"/>
            <a:ext cx="273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 video, 3D worlds, games, audio-reactive systems, agent workflows</a:t>
            </a:r>
            <a:endParaRPr lang="en-US" sz="1350" dirty="0"/>
          </a:p>
        </p:txBody>
      </p:sp>
      <p:sp>
        <p:nvSpPr>
          <p:cNvPr id="258" name="Text 256"/>
          <p:cNvSpPr/>
          <p:nvPr/>
        </p:nvSpPr>
        <p:spPr>
          <a:xfrm>
            <a:off x="8051800" y="6413500"/>
            <a:ext cx="273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3A2516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STANDARD</a:t>
            </a:r>
            <a:endParaRPr lang="en-US" sz="1125" dirty="0"/>
          </a:p>
        </p:txBody>
      </p:sp>
      <p:sp>
        <p:nvSpPr>
          <p:cNvPr id="259" name="Text 257"/>
          <p:cNvSpPr/>
          <p:nvPr/>
        </p:nvSpPr>
        <p:spPr>
          <a:xfrm>
            <a:off x="8051800" y="6616700"/>
            <a:ext cx="273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less generic, more buildable, more emotionally precise</a:t>
            </a:r>
            <a:endParaRPr lang="en-US" sz="1350" dirty="0"/>
          </a:p>
        </p:txBody>
      </p:sp>
      <p:sp>
        <p:nvSpPr>
          <p:cNvPr id="260" name="Text 258"/>
          <p:cNvSpPr/>
          <p:nvPr/>
        </p:nvSpPr>
        <p:spPr>
          <a:xfrm>
            <a:off x="11049000" y="63627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03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7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7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57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7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57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66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66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66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66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66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66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6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66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66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66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66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66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76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76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76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76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76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76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76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76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76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76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76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76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86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86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86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86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86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86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86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086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86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86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86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86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95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95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5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95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95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95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95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95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95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95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95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95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05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305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05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05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05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05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05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305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305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05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05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05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14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914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14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14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914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14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14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914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14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14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14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14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24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524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524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524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24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24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524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524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524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24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524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24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134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34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34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34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34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34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34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4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134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34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34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34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743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743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43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43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43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43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43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43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43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743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43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743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53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353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353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353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353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353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53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353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353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353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53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353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962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962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962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62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962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962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962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62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962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62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962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62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572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72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72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572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72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72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72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72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572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72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572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572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821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1821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1821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1821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821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1821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1821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1821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821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821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821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1821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7917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7917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7917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7917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7917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7917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7917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7917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7917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7917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7917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7917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4013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4013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4013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4013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013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013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013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4013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4013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4013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013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013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10109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0109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109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0109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0109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0109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0109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0109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0109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0109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0109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0109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620500" y="38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620500" y="647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620500" y="1257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620500" y="1866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620500" y="2476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620500" y="3086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620500" y="3695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620500" y="43053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620500" y="49149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1620500" y="55245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620500" y="61341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620500" y="6743700"/>
            <a:ext cx="20320" cy="20320"/>
          </a:xfrm>
          <a:prstGeom prst="ellipse">
            <a:avLst/>
          </a:prstGeom>
          <a:solidFill>
            <a:srgbClr val="3A2516">
              <a:alpha val="14000"/>
            </a:srgbClr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457200" y="4572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Current catalogue</a:t>
            </a:r>
            <a:endParaRPr lang="en-US" sz="7500" dirty="0"/>
          </a:p>
        </p:txBody>
      </p:sp>
      <p:sp>
        <p:nvSpPr>
          <p:cNvPr id="243" name="Text 241"/>
          <p:cNvSpPr/>
          <p:nvPr/>
        </p:nvSpPr>
        <p:spPr>
          <a:xfrm>
            <a:off x="2489200" y="4572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E5392A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catalogue</a:t>
            </a:r>
            <a:endParaRPr lang="en-US" sz="7500" dirty="0"/>
          </a:p>
        </p:txBody>
      </p:sp>
      <p:sp>
        <p:nvSpPr>
          <p:cNvPr id="244" name="Text 242"/>
          <p:cNvSpPr/>
          <p:nvPr/>
        </p:nvSpPr>
        <p:spPr>
          <a:xfrm>
            <a:off x="8699500" y="60325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Four active formats</a:t>
            </a:r>
            <a:endParaRPr lang="en-US" sz="1350" dirty="0"/>
          </a:p>
          <a:p>
            <a:pPr algn="r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creative technology · 2026</a:t>
            </a:r>
            <a:endParaRPr lang="en-US" sz="1350" dirty="0"/>
          </a:p>
        </p:txBody>
      </p:sp>
      <p:sp>
        <p:nvSpPr>
          <p:cNvPr id="245" name="Shape 243"/>
          <p:cNvSpPr/>
          <p:nvPr/>
        </p:nvSpPr>
        <p:spPr>
          <a:xfrm>
            <a:off x="457200" y="1295400"/>
            <a:ext cx="11277600" cy="0"/>
          </a:xfrm>
          <a:prstGeom prst="line">
            <a:avLst/>
          </a:prstGeom>
          <a:noFill/>
          <a:ln w="15240">
            <a:solidFill>
              <a:srgbClr val="3A251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57200" y="1587500"/>
            <a:ext cx="2628900" cy="3937000"/>
          </a:xfrm>
          <a:prstGeom prst="rect">
            <a:avLst/>
          </a:prstGeom>
          <a:solidFill>
            <a:srgbClr val="F1E6CB"/>
          </a:solidFill>
          <a:ln w="16510">
            <a:solidFill>
              <a:srgbClr val="3A251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57200" y="1587500"/>
            <a:ext cx="2628900" cy="196850"/>
          </a:xfrm>
          <a:prstGeom prst="rect">
            <a:avLst/>
          </a:prstGeom>
          <a:solidFill>
            <a:srgbClr val="E5392A"/>
          </a:solidFill>
          <a:ln w="12700">
            <a:solidFill>
              <a:srgbClr val="E5392A">
                <a:alpha val="0"/>
              </a:srgbClr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596900" y="1949450"/>
            <a:ext cx="21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AI FILM</a:t>
            </a:r>
            <a:endParaRPr lang="en-US" sz="4125" dirty="0"/>
          </a:p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PRODUCTION</a:t>
            </a:r>
            <a:endParaRPr lang="en-US" sz="4125" dirty="0"/>
          </a:p>
        </p:txBody>
      </p:sp>
      <p:sp>
        <p:nvSpPr>
          <p:cNvPr id="249" name="Text 247"/>
          <p:cNvSpPr/>
          <p:nvPr/>
        </p:nvSpPr>
        <p:spPr>
          <a:xfrm>
            <a:off x="596900" y="27432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Cinematic prompt systems, character continuity, shot design, edit-aware workflows, and full fantasy film production pipelines.</a:t>
            </a:r>
            <a:endParaRPr lang="en-US" sz="1425" dirty="0"/>
          </a:p>
        </p:txBody>
      </p:sp>
      <p:sp>
        <p:nvSpPr>
          <p:cNvPr id="250" name="Shape 248"/>
          <p:cNvSpPr/>
          <p:nvPr/>
        </p:nvSpPr>
        <p:spPr>
          <a:xfrm>
            <a:off x="596900" y="36957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96900" y="38354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For directors, agencies, studios, and teams that need visual output before the old pipeline catches up.</a:t>
            </a:r>
            <a:endParaRPr lang="en-US" sz="1275" dirty="0"/>
          </a:p>
        </p:txBody>
      </p:sp>
      <p:sp>
        <p:nvSpPr>
          <p:cNvPr id="252" name="Shape 250"/>
          <p:cNvSpPr/>
          <p:nvPr/>
        </p:nvSpPr>
        <p:spPr>
          <a:xfrm>
            <a:off x="596900" y="46482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96900" y="47752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</a:t>
            </a:r>
            <a:endParaRPr lang="en-US" sz="1050" dirty="0"/>
          </a:p>
        </p:txBody>
      </p:sp>
      <p:sp>
        <p:nvSpPr>
          <p:cNvPr id="254" name="Text 252"/>
          <p:cNvSpPr/>
          <p:nvPr/>
        </p:nvSpPr>
        <p:spPr>
          <a:xfrm>
            <a:off x="1282700" y="47752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Cinematic</a:t>
            </a:r>
            <a:endParaRPr lang="en-US" sz="1050" dirty="0"/>
          </a:p>
        </p:txBody>
      </p:sp>
      <p:sp>
        <p:nvSpPr>
          <p:cNvPr id="255" name="Text 253"/>
          <p:cNvSpPr/>
          <p:nvPr/>
        </p:nvSpPr>
        <p:spPr>
          <a:xfrm>
            <a:off x="596900" y="49530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</a:t>
            </a:r>
            <a:endParaRPr lang="en-US" sz="1050" dirty="0"/>
          </a:p>
        </p:txBody>
      </p:sp>
      <p:sp>
        <p:nvSpPr>
          <p:cNvPr id="256" name="Text 254"/>
          <p:cNvSpPr/>
          <p:nvPr/>
        </p:nvSpPr>
        <p:spPr>
          <a:xfrm>
            <a:off x="1282700" y="49530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Video</a:t>
            </a:r>
            <a:endParaRPr lang="en-US" sz="1050" dirty="0"/>
          </a:p>
        </p:txBody>
      </p:sp>
      <p:sp>
        <p:nvSpPr>
          <p:cNvPr id="257" name="Text 255"/>
          <p:cNvSpPr/>
          <p:nvPr/>
        </p:nvSpPr>
        <p:spPr>
          <a:xfrm>
            <a:off x="596900" y="51308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258" name="Text 256"/>
          <p:cNvSpPr/>
          <p:nvPr/>
        </p:nvSpPr>
        <p:spPr>
          <a:xfrm>
            <a:off x="1282700" y="51308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Shots / Decks / Systems</a:t>
            </a:r>
            <a:endParaRPr lang="en-US" sz="1050" dirty="0"/>
          </a:p>
        </p:txBody>
      </p:sp>
      <p:sp>
        <p:nvSpPr>
          <p:cNvPr id="259" name="Shape 257"/>
          <p:cNvSpPr/>
          <p:nvPr/>
        </p:nvSpPr>
        <p:spPr>
          <a:xfrm>
            <a:off x="3340100" y="1587500"/>
            <a:ext cx="2628900" cy="3937000"/>
          </a:xfrm>
          <a:prstGeom prst="rect">
            <a:avLst/>
          </a:prstGeom>
          <a:solidFill>
            <a:srgbClr val="F1E6CB"/>
          </a:solidFill>
          <a:ln w="16510">
            <a:solidFill>
              <a:srgbClr val="3A251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340100" y="1587500"/>
            <a:ext cx="2628900" cy="196850"/>
          </a:xfrm>
          <a:prstGeom prst="rect">
            <a:avLst/>
          </a:prstGeom>
          <a:solidFill>
            <a:srgbClr val="E54489"/>
          </a:solidFill>
          <a:ln w="12700">
            <a:solidFill>
              <a:srgbClr val="E54489">
                <a:alpha val="0"/>
              </a:srgbClr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3479800" y="1949450"/>
            <a:ext cx="21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GAME</a:t>
            </a:r>
            <a:endParaRPr lang="en-US" sz="4125" dirty="0"/>
          </a:p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WORLDS</a:t>
            </a:r>
            <a:endParaRPr lang="en-US" sz="4125" dirty="0"/>
          </a:p>
        </p:txBody>
      </p:sp>
      <p:sp>
        <p:nvSpPr>
          <p:cNvPr id="262" name="Text 260"/>
          <p:cNvSpPr/>
          <p:nvPr/>
        </p:nvSpPr>
        <p:spPr>
          <a:xfrm>
            <a:off x="3479800" y="27432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Capyverse-style playable IP: cute but action-heavy, stylized but not kiddy, built around characters, mechanics, and trailer-ready moments.</a:t>
            </a:r>
            <a:endParaRPr lang="en-US" sz="1425" dirty="0"/>
          </a:p>
        </p:txBody>
      </p:sp>
      <p:sp>
        <p:nvSpPr>
          <p:cNvPr id="263" name="Shape 261"/>
          <p:cNvSpPr/>
          <p:nvPr/>
        </p:nvSpPr>
        <p:spPr>
          <a:xfrm>
            <a:off x="3479800" y="36957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3479800" y="38354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Player fantasy first. Production reality second. Steam-ready shape, not vague lore.</a:t>
            </a:r>
            <a:endParaRPr lang="en-US" sz="1275" dirty="0"/>
          </a:p>
        </p:txBody>
      </p:sp>
      <p:sp>
        <p:nvSpPr>
          <p:cNvPr id="265" name="Shape 263"/>
          <p:cNvSpPr/>
          <p:nvPr/>
        </p:nvSpPr>
        <p:spPr>
          <a:xfrm>
            <a:off x="3479800" y="46482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3479800" y="47752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</a:t>
            </a:r>
            <a:endParaRPr lang="en-US" sz="1050" dirty="0"/>
          </a:p>
        </p:txBody>
      </p:sp>
      <p:sp>
        <p:nvSpPr>
          <p:cNvPr id="267" name="Text 265"/>
          <p:cNvSpPr/>
          <p:nvPr/>
        </p:nvSpPr>
        <p:spPr>
          <a:xfrm>
            <a:off x="4165600" y="47752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Playable</a:t>
            </a:r>
            <a:endParaRPr lang="en-US" sz="1050" dirty="0"/>
          </a:p>
        </p:txBody>
      </p:sp>
      <p:sp>
        <p:nvSpPr>
          <p:cNvPr id="268" name="Text 266"/>
          <p:cNvSpPr/>
          <p:nvPr/>
        </p:nvSpPr>
        <p:spPr>
          <a:xfrm>
            <a:off x="3479800" y="49530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</a:t>
            </a:r>
            <a:endParaRPr lang="en-US" sz="1050" dirty="0"/>
          </a:p>
        </p:txBody>
      </p:sp>
      <p:sp>
        <p:nvSpPr>
          <p:cNvPr id="269" name="Text 267"/>
          <p:cNvSpPr/>
          <p:nvPr/>
        </p:nvSpPr>
        <p:spPr>
          <a:xfrm>
            <a:off x="4165600" y="49530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Unreal / 3D</a:t>
            </a:r>
            <a:endParaRPr lang="en-US" sz="1050" dirty="0"/>
          </a:p>
        </p:txBody>
      </p:sp>
      <p:sp>
        <p:nvSpPr>
          <p:cNvPr id="270" name="Text 268"/>
          <p:cNvSpPr/>
          <p:nvPr/>
        </p:nvSpPr>
        <p:spPr>
          <a:xfrm>
            <a:off x="3479800" y="51308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271" name="Text 269"/>
          <p:cNvSpPr/>
          <p:nvPr/>
        </p:nvSpPr>
        <p:spPr>
          <a:xfrm>
            <a:off x="4165600" y="51308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Loops / Levels / IP</a:t>
            </a:r>
            <a:endParaRPr lang="en-US" sz="1050" dirty="0"/>
          </a:p>
        </p:txBody>
      </p:sp>
      <p:sp>
        <p:nvSpPr>
          <p:cNvPr id="272" name="Shape 270"/>
          <p:cNvSpPr/>
          <p:nvPr/>
        </p:nvSpPr>
        <p:spPr>
          <a:xfrm>
            <a:off x="6223000" y="1587500"/>
            <a:ext cx="2628900" cy="3937000"/>
          </a:xfrm>
          <a:prstGeom prst="rect">
            <a:avLst/>
          </a:prstGeom>
          <a:solidFill>
            <a:srgbClr val="F1E6CB"/>
          </a:solidFill>
          <a:ln w="16510">
            <a:solidFill>
              <a:srgbClr val="3A25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223000" y="1587500"/>
            <a:ext cx="2628900" cy="196850"/>
          </a:xfrm>
          <a:prstGeom prst="rect">
            <a:avLst/>
          </a:prstGeom>
          <a:solidFill>
            <a:srgbClr val="F09131"/>
          </a:solidFill>
          <a:ln w="12700">
            <a:solidFill>
              <a:srgbClr val="F09131">
                <a:alpha val="0"/>
              </a:srgbClr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6362700" y="1949450"/>
            <a:ext cx="21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SLOPIA</a:t>
            </a:r>
            <a:endParaRPr lang="en-US" sz="4125" dirty="0"/>
          </a:p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TOOLS</a:t>
            </a:r>
            <a:endParaRPr lang="en-US" sz="4125" dirty="0"/>
          </a:p>
        </p:txBody>
      </p:sp>
      <p:sp>
        <p:nvSpPr>
          <p:cNvPr id="275" name="Text 273"/>
          <p:cNvSpPr/>
          <p:nvPr/>
        </p:nvSpPr>
        <p:spPr>
          <a:xfrm>
            <a:off x="6362700" y="27432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AI-native creation platform thinking: 3D scenes, characters, video generation, creator workflows, and internet-native franchises.</a:t>
            </a:r>
            <a:endParaRPr lang="en-US" sz="1425" dirty="0"/>
          </a:p>
        </p:txBody>
      </p:sp>
      <p:sp>
        <p:nvSpPr>
          <p:cNvPr id="276" name="Shape 274"/>
          <p:cNvSpPr/>
          <p:nvPr/>
        </p:nvSpPr>
        <p:spPr>
          <a:xfrm>
            <a:off x="6362700" y="36957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6362700" y="38354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Not “AI content.” Worlds that can keep producing media, stories, assets, and social signals.</a:t>
            </a:r>
            <a:endParaRPr lang="en-US" sz="1275" dirty="0"/>
          </a:p>
        </p:txBody>
      </p:sp>
      <p:sp>
        <p:nvSpPr>
          <p:cNvPr id="278" name="Shape 276"/>
          <p:cNvSpPr/>
          <p:nvPr/>
        </p:nvSpPr>
        <p:spPr>
          <a:xfrm>
            <a:off x="6362700" y="46482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6362700" y="47752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</a:t>
            </a:r>
            <a:endParaRPr lang="en-US" sz="1050" dirty="0"/>
          </a:p>
        </p:txBody>
      </p:sp>
      <p:sp>
        <p:nvSpPr>
          <p:cNvPr id="280" name="Text 278"/>
          <p:cNvSpPr/>
          <p:nvPr/>
        </p:nvSpPr>
        <p:spPr>
          <a:xfrm>
            <a:off x="7048500" y="47752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</a:t>
            </a:r>
            <a:endParaRPr lang="en-US" sz="1050" dirty="0"/>
          </a:p>
        </p:txBody>
      </p:sp>
      <p:sp>
        <p:nvSpPr>
          <p:cNvPr id="281" name="Text 279"/>
          <p:cNvSpPr/>
          <p:nvPr/>
        </p:nvSpPr>
        <p:spPr>
          <a:xfrm>
            <a:off x="6362700" y="49530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</a:t>
            </a:r>
            <a:endParaRPr lang="en-US" sz="1050" dirty="0"/>
          </a:p>
        </p:txBody>
      </p:sp>
      <p:sp>
        <p:nvSpPr>
          <p:cNvPr id="282" name="Text 280"/>
          <p:cNvSpPr/>
          <p:nvPr/>
        </p:nvSpPr>
        <p:spPr>
          <a:xfrm>
            <a:off x="7048500" y="49530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World → Video</a:t>
            </a:r>
            <a:endParaRPr lang="en-US" sz="1050" dirty="0"/>
          </a:p>
        </p:txBody>
      </p:sp>
      <p:sp>
        <p:nvSpPr>
          <p:cNvPr id="283" name="Text 281"/>
          <p:cNvSpPr/>
          <p:nvPr/>
        </p:nvSpPr>
        <p:spPr>
          <a:xfrm>
            <a:off x="6362700" y="51308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284" name="Text 282"/>
          <p:cNvSpPr/>
          <p:nvPr/>
        </p:nvSpPr>
        <p:spPr>
          <a:xfrm>
            <a:off x="7048500" y="51308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MVP / Pitch / UX</a:t>
            </a:r>
            <a:endParaRPr lang="en-US" sz="1050" dirty="0"/>
          </a:p>
        </p:txBody>
      </p:sp>
      <p:sp>
        <p:nvSpPr>
          <p:cNvPr id="285" name="Shape 283"/>
          <p:cNvSpPr/>
          <p:nvPr/>
        </p:nvSpPr>
        <p:spPr>
          <a:xfrm>
            <a:off x="9105900" y="1587500"/>
            <a:ext cx="2628900" cy="3937000"/>
          </a:xfrm>
          <a:prstGeom prst="rect">
            <a:avLst/>
          </a:prstGeom>
          <a:solidFill>
            <a:srgbClr val="F1E6CB"/>
          </a:solidFill>
          <a:ln w="16510">
            <a:solidFill>
              <a:srgbClr val="3A25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9105900" y="1587500"/>
            <a:ext cx="2628900" cy="196850"/>
          </a:xfrm>
          <a:prstGeom prst="rect">
            <a:avLst/>
          </a:prstGeom>
          <a:solidFill>
            <a:srgbClr val="3F8BC4"/>
          </a:solidFill>
          <a:ln w="12700">
            <a:solidFill>
              <a:srgbClr val="3F8BC4">
                <a:alpha val="0"/>
              </a:srgbClr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9245600" y="1949450"/>
            <a:ext cx="21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AGENCY</a:t>
            </a:r>
            <a:endParaRPr lang="en-US" sz="4125" dirty="0"/>
          </a:p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OPS</a:t>
            </a:r>
            <a:endParaRPr lang="en-US" sz="4125" dirty="0"/>
          </a:p>
        </p:txBody>
      </p:sp>
      <p:sp>
        <p:nvSpPr>
          <p:cNvPr id="288" name="Text 286"/>
          <p:cNvSpPr/>
          <p:nvPr/>
        </p:nvSpPr>
        <p:spPr>
          <a:xfrm>
            <a:off x="9245600" y="27432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 services that make money now: campaign concepts, visual systems, rapid decks, content engines, and production workflows for clients.</a:t>
            </a:r>
            <a:endParaRPr lang="en-US" sz="1425" dirty="0"/>
          </a:p>
        </p:txBody>
      </p:sp>
      <p:sp>
        <p:nvSpPr>
          <p:cNvPr id="289" name="Shape 287"/>
          <p:cNvSpPr/>
          <p:nvPr/>
        </p:nvSpPr>
        <p:spPr>
          <a:xfrm>
            <a:off x="9245600" y="36957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9245600" y="3835400"/>
            <a:ext cx="228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3A2516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Taste-preserving monetization. Practical offers without turning the work into generic SaaS soup.</a:t>
            </a:r>
            <a:endParaRPr lang="en-US" sz="1275" dirty="0"/>
          </a:p>
        </p:txBody>
      </p:sp>
      <p:sp>
        <p:nvSpPr>
          <p:cNvPr id="291" name="Shape 289"/>
          <p:cNvSpPr/>
          <p:nvPr/>
        </p:nvSpPr>
        <p:spPr>
          <a:xfrm>
            <a:off x="9245600" y="4648200"/>
            <a:ext cx="2349500" cy="0"/>
          </a:xfrm>
          <a:prstGeom prst="line">
            <a:avLst/>
          </a:prstGeom>
          <a:noFill/>
          <a:ln w="12700">
            <a:solidFill>
              <a:srgbClr val="3A2516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9245600" y="47752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</a:t>
            </a:r>
            <a:endParaRPr lang="en-US" sz="1050" dirty="0"/>
          </a:p>
        </p:txBody>
      </p:sp>
      <p:sp>
        <p:nvSpPr>
          <p:cNvPr id="293" name="Text 291"/>
          <p:cNvSpPr/>
          <p:nvPr/>
        </p:nvSpPr>
        <p:spPr>
          <a:xfrm>
            <a:off x="9931400" y="47752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Revenue</a:t>
            </a:r>
            <a:endParaRPr lang="en-US" sz="1050" dirty="0"/>
          </a:p>
        </p:txBody>
      </p:sp>
      <p:sp>
        <p:nvSpPr>
          <p:cNvPr id="294" name="Text 292"/>
          <p:cNvSpPr/>
          <p:nvPr/>
        </p:nvSpPr>
        <p:spPr>
          <a:xfrm>
            <a:off x="9245600" y="49530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</a:t>
            </a:r>
            <a:endParaRPr lang="en-US" sz="1050" dirty="0"/>
          </a:p>
        </p:txBody>
      </p:sp>
      <p:sp>
        <p:nvSpPr>
          <p:cNvPr id="295" name="Text 293"/>
          <p:cNvSpPr/>
          <p:nvPr/>
        </p:nvSpPr>
        <p:spPr>
          <a:xfrm>
            <a:off x="9931400" y="49530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Agency / Brand</a:t>
            </a:r>
            <a:endParaRPr lang="en-US" sz="1050" dirty="0"/>
          </a:p>
        </p:txBody>
      </p:sp>
      <p:sp>
        <p:nvSpPr>
          <p:cNvPr id="296" name="Text 294"/>
          <p:cNvSpPr/>
          <p:nvPr/>
        </p:nvSpPr>
        <p:spPr>
          <a:xfrm>
            <a:off x="9245600" y="5130800"/>
            <a:ext cx="730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251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297" name="Text 295"/>
          <p:cNvSpPr/>
          <p:nvPr/>
        </p:nvSpPr>
        <p:spPr>
          <a:xfrm>
            <a:off x="9931400" y="5130800"/>
            <a:ext cx="165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Offers / Assets / Systems</a:t>
            </a:r>
            <a:endParaRPr lang="en-US" sz="1050" dirty="0"/>
          </a:p>
        </p:txBody>
      </p:sp>
      <p:sp>
        <p:nvSpPr>
          <p:cNvPr id="298" name="Shape 296"/>
          <p:cNvSpPr/>
          <p:nvPr/>
        </p:nvSpPr>
        <p:spPr>
          <a:xfrm>
            <a:off x="457200" y="6350000"/>
            <a:ext cx="11277600" cy="0"/>
          </a:xfrm>
          <a:prstGeom prst="line">
            <a:avLst/>
          </a:prstGeom>
          <a:noFill/>
          <a:ln w="15240">
            <a:solidFill>
              <a:srgbClr val="3A2516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457200" y="6464300"/>
            <a:ext cx="8699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25" b="1" dirty="0">
                <a:solidFill>
                  <a:srgbClr val="3A25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Creative tech, but with taste sharp enough to survive the machine.</a:t>
            </a:r>
            <a:endParaRPr lang="en-US" sz="4125" dirty="0"/>
          </a:p>
        </p:txBody>
      </p:sp>
      <p:sp>
        <p:nvSpPr>
          <p:cNvPr id="300" name="Shape 298"/>
          <p:cNvSpPr/>
          <p:nvPr/>
        </p:nvSpPr>
        <p:spPr>
          <a:xfrm>
            <a:off x="11150600" y="6273800"/>
            <a:ext cx="584200" cy="584200"/>
          </a:xfrm>
          <a:prstGeom prst="sun">
            <a:avLst/>
          </a:prstGeom>
          <a:solidFill>
            <a:srgbClr val="3A2516"/>
          </a:solidFill>
          <a:ln w="12700">
            <a:solidFill>
              <a:srgbClr val="3A2516">
                <a:alpha val="0"/>
              </a:srgbClr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11150600" y="6419850"/>
            <a:ext cx="584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LRVZ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>
                <a:solidFill>
                  <a:srgbClr val="F1E6CB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OK</a:t>
            </a:r>
            <a:endParaRPr lang="en-US" sz="2250" dirty="0"/>
          </a:p>
        </p:txBody>
      </p:sp>
      <p:sp>
        <p:nvSpPr>
          <p:cNvPr id="302" name="Text 300"/>
          <p:cNvSpPr/>
          <p:nvPr/>
        </p:nvSpPr>
        <p:spPr>
          <a:xfrm>
            <a:off x="11049000" y="63627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5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03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g Shoulder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lber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Larvuz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Gus Garza — Creative Tech Dossier</dc:title>
  <dc:subject>Editable native PowerPoint export from HTML deck</dc:subject>
  <dc:creator>Larvuz / Hermes</dc:creator>
  <cp:lastModifiedBy>Larvuz / Hermes</cp:lastModifiedBy>
  <cp:revision>1</cp:revision>
  <dcterms:created xsi:type="dcterms:W3CDTF">2026-06-05T20:42:22Z</dcterms:created>
  <dcterms:modified xsi:type="dcterms:W3CDTF">2026-06-05T20:42:22Z</dcterms:modified>
</cp:coreProperties>
</file>